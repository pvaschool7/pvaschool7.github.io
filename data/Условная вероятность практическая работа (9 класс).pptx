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Раздать листы. Компьютеры включены, таблица открыта. Интернет не нужен. Для части 3 нужны телефоны.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Пример из учебника: 48% мужчин, из них 55% работают. P = 0,48 · 0,55 = 0,264.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Часть 1 — задания 1–3 на листе. Для части 3 нужен телефон с ИИ-помощником.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Первый карандаш не возвращают, поэтому вероятности второго шага пересчитываем. Сумма четырёх исходов: 14/30 + 7/30 + 7/30 + 2/30 =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 и С пишем русскими буквами, иначе счётчики дадут 0. G1 — P(A), G2 — P(A ∩ B), G3 — P(B при условии A). В LibreOffice аргументы разделяются точкой с запятой.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сериях по 100 опытов отклонения 0,05–0,1 нормальны, серия из 1000 обычно ближе к теории.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Шесть минут. Верный ответ к заданию 4: 7/15. ИИ может умножить 7/10 · 7/10 = 0,49 — повод обсудить условие «без возвращения».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 для сильных: 0,07 · 0,6 = 0,042. Ответы письменно.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09600" y="711200"/>
            <a:ext cx="1097280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09600" y="1407120"/>
            <a:ext cx="10769600" cy="4638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09600" y="711200"/>
            <a:ext cx="1097280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09600" y="1407120"/>
            <a:ext cx="10769600" cy="4638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780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Математика, 8 класс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896600" y="17780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6451600"/>
            <a:ext cx="12192000" cy="406400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5" name="Text 3"/>
          <p:cNvSpPr/>
          <p:nvPr/>
        </p:nvSpPr>
        <p:spPr>
          <a:xfrm>
            <a:off x="609600" y="654308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Условная вероятность и правило умножения вероятностей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2014273"/>
            <a:ext cx="7518400" cy="558800"/>
          </a:xfrm>
          <a:prstGeom prst="roundRect">
            <a:avLst>
              <a:gd name="adj" fmla="val 9091"/>
            </a:avLst>
          </a:prstGeom>
          <a:solidFill>
            <a:srgbClr val="DDEBF7"/>
          </a:solidFill>
          <a:ln/>
        </p:spPr>
        <p:txBody>
          <a:bodyPr wrap="square" lIns="137521" tIns="86721" rIns="0" bIns="61321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00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Практическая работа</a:t>
            </a:r>
            <a:endParaRPr lang="en-US" sz="2000" dirty="0"/>
          </a:p>
        </p:txBody>
      </p:sp>
      <p:sp>
        <p:nvSpPr>
          <p:cNvPr id="7" name="Text 5"/>
          <p:cNvSpPr/>
          <p:nvPr>
            <p:ph type="title"/>
          </p:nvPr>
        </p:nvSpPr>
        <p:spPr>
          <a:xfrm>
            <a:off x="609600" y="2776273"/>
            <a:ext cx="7743952" cy="975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Условная вероятность и правило умножения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09600" y="3929327"/>
            <a:ext cx="774395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D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Считаем на бумаге и проверяем на компьютере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09600" y="4523648"/>
            <a:ext cx="7924800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00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класс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30–35 минут · учебник «Вероятность и статистика», §55–56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534400" y="1905000"/>
            <a:ext cx="3048000" cy="3048000"/>
          </a:xfrm>
          <a:prstGeom prst="roundRect">
            <a:avLst>
              <a:gd name="adj" fmla="val 50000"/>
            </a:avLst>
          </a:prstGeom>
          <a:solidFill>
            <a:srgbClr val="DDEBF7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5880"/>
              </a:lnSpc>
              <a:buNone/>
            </a:pPr>
            <a:r>
              <a:rPr lang="en-US" sz="4200" b="1" dirty="0">
                <a:solidFill>
                  <a:srgbClr val="000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P(A|B)</a:t>
            </a:r>
            <a:endParaRPr lang="en-US" sz="4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780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Математика, 8 класс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896600" y="17780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6451600"/>
            <a:ext cx="12192000" cy="406400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5" name="Text 3"/>
          <p:cNvSpPr/>
          <p:nvPr/>
        </p:nvSpPr>
        <p:spPr>
          <a:xfrm>
            <a:off x="609600" y="654308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Условная вероятность и правило умножения вероятностей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9600" y="1216620"/>
            <a:ext cx="10972800" cy="0"/>
          </a:xfrm>
          <a:prstGeom prst="line">
            <a:avLst/>
          </a:prstGeom>
          <a:noFill/>
          <a:ln w="25400">
            <a:solidFill>
              <a:srgbClr val="000099"/>
            </a:solidFill>
            <a:prstDash val="solid"/>
          </a:ln>
        </p:spPr>
      </p:sp>
      <p:sp>
        <p:nvSpPr>
          <p:cNvPr id="7" name="Text 5"/>
          <p:cNvSpPr/>
          <p:nvPr>
            <p:ph type="title"/>
          </p:nvPr>
        </p:nvSpPr>
        <p:spPr>
          <a:xfrm>
            <a:off x="609600" y="711200"/>
            <a:ext cx="1130198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Главные формулы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09600" y="1432520"/>
            <a:ext cx="10972800" cy="1737254"/>
          </a:xfrm>
          <a:prstGeom prst="roundRect">
            <a:avLst>
              <a:gd name="adj" fmla="val 4386"/>
            </a:avLst>
          </a:prstGeom>
          <a:solidFill>
            <a:srgbClr val="DDEBF7"/>
          </a:solidFill>
          <a:ln/>
        </p:spPr>
      </p:sp>
      <p:sp>
        <p:nvSpPr>
          <p:cNvPr id="9" name="Text 7"/>
          <p:cNvSpPr/>
          <p:nvPr/>
        </p:nvSpPr>
        <p:spPr>
          <a:xfrm>
            <a:off x="3034910" y="1610320"/>
            <a:ext cx="6122115" cy="665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000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P(A ∩ B) = P(B) · P(A|B)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050064" y="2351948"/>
            <a:ext cx="6091873" cy="665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000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P(A|B) = P(A ∩ B) / P(B)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615950" y="3379325"/>
            <a:ext cx="3543300" cy="1429941"/>
          </a:xfrm>
          <a:prstGeom prst="roundRect">
            <a:avLst>
              <a:gd name="adj" fmla="val 4885"/>
            </a:avLst>
          </a:prstGeom>
          <a:solidFill>
            <a:srgbClr val="99FF66"/>
          </a:solidFill>
          <a:ln w="12700">
            <a:solidFill>
              <a:srgbClr val="66CC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500" y="3588875"/>
            <a:ext cx="321792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D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P(A|B)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5500" y="3995275"/>
            <a:ext cx="3217926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вероятность A при условии, что B уже произошло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324350" y="3379325"/>
            <a:ext cx="3543300" cy="1429941"/>
          </a:xfrm>
          <a:prstGeom prst="roundRect">
            <a:avLst>
              <a:gd name="adj" fmla="val 4885"/>
            </a:avLst>
          </a:prstGeom>
          <a:solidFill>
            <a:srgbClr val="FFFF99"/>
          </a:solidFill>
          <a:ln w="12700">
            <a:solidFill>
              <a:srgbClr val="CCCC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33900" y="3588875"/>
            <a:ext cx="321792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D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P(A ∩ B)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33900" y="3995275"/>
            <a:ext cx="3217926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вероятность того, что произошли оба события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32750" y="3379325"/>
            <a:ext cx="3543300" cy="1429941"/>
          </a:xfrm>
          <a:prstGeom prst="roundRect">
            <a:avLst>
              <a:gd name="adj" fmla="val 4885"/>
            </a:avLst>
          </a:prstGeom>
          <a:solidFill>
            <a:srgbClr val="FFB3B3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42300" y="3588875"/>
            <a:ext cx="321792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D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P(B) &gt; 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42300" y="3995275"/>
            <a:ext cx="3217926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условие, при котором формула имеет смысл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780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Математика, 8 класс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896600" y="17780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6451600"/>
            <a:ext cx="12192000" cy="406400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5" name="Text 3"/>
          <p:cNvSpPr/>
          <p:nvPr/>
        </p:nvSpPr>
        <p:spPr>
          <a:xfrm>
            <a:off x="609600" y="654308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Условная вероятность и правило умножения вероятностей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9600" y="1216620"/>
            <a:ext cx="10972800" cy="0"/>
          </a:xfrm>
          <a:prstGeom prst="line">
            <a:avLst/>
          </a:prstGeom>
          <a:noFill/>
          <a:ln w="25400">
            <a:solidFill>
              <a:srgbClr val="000099"/>
            </a:solidFill>
            <a:prstDash val="solid"/>
          </a:ln>
        </p:spPr>
      </p:sp>
      <p:sp>
        <p:nvSpPr>
          <p:cNvPr id="7" name="Text 5"/>
          <p:cNvSpPr/>
          <p:nvPr>
            <p:ph type="title"/>
          </p:nvPr>
        </p:nvSpPr>
        <p:spPr>
          <a:xfrm>
            <a:off x="609600" y="711200"/>
            <a:ext cx="1130198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работы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09600" y="143252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000099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68400" y="1475715"/>
            <a:ext cx="10726420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00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1 · 10 минут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считаем на бумаге: монета, две кости, карандаши в коробке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201672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000099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68400" y="2059915"/>
            <a:ext cx="10726420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00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2 · 12 минут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моделируем выбор двух карандашей в электронной таблице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260092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000099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68400" y="2644115"/>
            <a:ext cx="10726420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00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3 · 6 минут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работаем с </a:t>
            </a:r>
            <a:r>
              <a:rPr lang="en-US" sz="1800" b="1" dirty="0">
                <a:solidFill>
                  <a:srgbClr val="D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проверяем его ответы по формуле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9600" y="318512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000099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68400" y="3228315"/>
            <a:ext cx="10726420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00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4 · 4 минуты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выводы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5950" y="3801070"/>
            <a:ext cx="10960100" cy="568920"/>
          </a:xfrm>
          <a:prstGeom prst="roundRect">
            <a:avLst>
              <a:gd name="adj" fmla="val 7813"/>
            </a:avLst>
          </a:prstGeom>
          <a:solidFill>
            <a:srgbClr val="FFFF99"/>
          </a:solidFill>
          <a:ln w="12700">
            <a:solidFill>
              <a:srgbClr val="CCCC33"/>
            </a:solidFill>
            <a:prstDash val="solid"/>
          </a:ln>
        </p:spPr>
        <p:txBody>
          <a:bodyPr wrap="square" lIns="171131" tIns="120331" rIns="0" bIns="94931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 записываем на листе работы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780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Математика, 8 класс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896600" y="17780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6451600"/>
            <a:ext cx="12192000" cy="406400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5" name="Text 3"/>
          <p:cNvSpPr/>
          <p:nvPr/>
        </p:nvSpPr>
        <p:spPr>
          <a:xfrm>
            <a:off x="609600" y="654308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Условная вероятность и правило умножения вероятностей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9600" y="1216620"/>
            <a:ext cx="10972800" cy="0"/>
          </a:xfrm>
          <a:prstGeom prst="line">
            <a:avLst/>
          </a:prstGeom>
          <a:noFill/>
          <a:ln w="25400">
            <a:solidFill>
              <a:srgbClr val="000099"/>
            </a:solidFill>
            <a:prstDash val="solid"/>
          </a:ln>
        </p:spPr>
      </p:sp>
      <p:sp>
        <p:nvSpPr>
          <p:cNvPr id="7" name="Text 5"/>
          <p:cNvSpPr/>
          <p:nvPr>
            <p:ph type="title"/>
          </p:nvPr>
        </p:nvSpPr>
        <p:spPr>
          <a:xfrm>
            <a:off x="609600" y="711200"/>
            <a:ext cx="1130198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Дерево опыта: два карандаша</a:t>
            </a:r>
            <a:endParaRPr lang="en-US" sz="2800" dirty="0"/>
          </a:p>
        </p:txBody>
      </p:sp>
      <p:pic>
        <p:nvPicPr>
          <p:cNvPr id="8" name="Image 0" descr="Дерево опыта: два карандаша из коробки без возвращения">    </p:cNvPr>
          <p:cNvPicPr>
            <a:picLocks noChangeAspect="1"/>
          </p:cNvPicPr>
          <p:nvPr/>
        </p:nvPicPr>
        <p:blipFill>
          <a:blip r:embed="rId1"/>
          <a:srcRect l="0" r="0" t="-24" b="-24"/>
          <a:stretch/>
        </p:blipFill>
        <p:spPr>
          <a:xfrm>
            <a:off x="609600" y="1432520"/>
            <a:ext cx="10972800" cy="3302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15950" y="4944070"/>
            <a:ext cx="10960100" cy="568920"/>
          </a:xfrm>
          <a:prstGeom prst="roundRect">
            <a:avLst>
              <a:gd name="adj" fmla="val 7813"/>
            </a:avLst>
          </a:prstGeom>
          <a:solidFill>
            <a:srgbClr val="FFFF99"/>
          </a:solidFill>
          <a:ln w="12700">
            <a:solidFill>
              <a:srgbClr val="CCCC33"/>
            </a:solidFill>
            <a:prstDash val="solid"/>
          </a:ln>
        </p:spPr>
        <p:txBody>
          <a:bodyPr wrap="square" lIns="171131" tIns="120331" rIns="0" bIns="94931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Красная ветка: P(A ∩ B) = 7/10 · 3/9 = </a:t>
            </a:r>
            <a:r>
              <a:rPr lang="en-US" sz="1700" b="1" dirty="0">
                <a:solidFill>
                  <a:srgbClr val="000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7/30</a:t>
            </a: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К — красный, С — синий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780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Математика, 8 класс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896600" y="17780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6451600"/>
            <a:ext cx="12192000" cy="406400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5" name="Text 3"/>
          <p:cNvSpPr/>
          <p:nvPr/>
        </p:nvSpPr>
        <p:spPr>
          <a:xfrm>
            <a:off x="609600" y="654308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Условная вероятность и правило умножения вероятностей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9600" y="1216620"/>
            <a:ext cx="10972800" cy="0"/>
          </a:xfrm>
          <a:prstGeom prst="line">
            <a:avLst/>
          </a:prstGeom>
          <a:noFill/>
          <a:ln w="25400">
            <a:solidFill>
              <a:srgbClr val="000099"/>
            </a:solidFill>
            <a:prstDash val="solid"/>
          </a:ln>
        </p:spPr>
      </p:sp>
      <p:sp>
        <p:nvSpPr>
          <p:cNvPr id="7" name="Text 5"/>
          <p:cNvSpPr/>
          <p:nvPr>
            <p:ph type="title"/>
          </p:nvPr>
        </p:nvSpPr>
        <p:spPr>
          <a:xfrm>
            <a:off x="609600" y="711200"/>
            <a:ext cx="1130198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в электронной таблице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15950" y="1438870"/>
            <a:ext cx="10960100" cy="495300"/>
          </a:xfrm>
          <a:prstGeom prst="roundRect">
            <a:avLst>
              <a:gd name="adj" fmla="val 14103"/>
            </a:avLst>
          </a:prstGeom>
          <a:solidFill>
            <a:srgbClr val="F2F2F2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300" y="150872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000099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1900" y="1562035"/>
            <a:ext cx="10517124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A1:C1 — №, Первый, Второй; A2:A101 — номера 1…100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5950" y="2023070"/>
            <a:ext cx="10960100" cy="495300"/>
          </a:xfrm>
          <a:prstGeom prst="roundRect">
            <a:avLst>
              <a:gd name="adj" fmla="val 14103"/>
            </a:avLst>
          </a:prstGeom>
          <a:solidFill>
            <a:srgbClr val="F2F2F2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300" y="209292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000099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1900" y="2146235"/>
            <a:ext cx="10517124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B2: </a:t>
            </a:r>
            <a:r>
              <a:rPr lang="en-US" sz="1400" b="1" dirty="0">
                <a:solidFill>
                  <a:srgbClr val="000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=ЕСЛИ(СЛУЧМЕЖДУ(1;10)&lt;=7;"К";"С")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5950" y="2607270"/>
            <a:ext cx="10960100" cy="495300"/>
          </a:xfrm>
          <a:prstGeom prst="roundRect">
            <a:avLst>
              <a:gd name="adj" fmla="val 14103"/>
            </a:avLst>
          </a:prstGeom>
          <a:solidFill>
            <a:srgbClr val="F2F2F2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300" y="267712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000099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1900" y="2730435"/>
            <a:ext cx="10517124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C2: </a:t>
            </a:r>
            <a:r>
              <a:rPr lang="en-US" sz="1400" b="1" dirty="0">
                <a:solidFill>
                  <a:srgbClr val="000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=ЕСЛИ(B2="К";ЕСЛИ(СЛУЧМЕЖДУ(1;9)&lt;=6;"К";"С");ЕСЛИ(СЛУЧМЕЖДУ(1;9)&lt;=7;"К";"С"))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5950" y="3191470"/>
            <a:ext cx="10960100" cy="495300"/>
          </a:xfrm>
          <a:prstGeom prst="roundRect">
            <a:avLst>
              <a:gd name="adj" fmla="val 14103"/>
            </a:avLst>
          </a:prstGeom>
          <a:solidFill>
            <a:srgbClr val="F2F2F2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300" y="326132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000099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1900" y="3314635"/>
            <a:ext cx="10517124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Выделить B2:C2 и протянуть вниз до строки 101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5950" y="3775670"/>
            <a:ext cx="10960100" cy="495300"/>
          </a:xfrm>
          <a:prstGeom prst="roundRect">
            <a:avLst>
              <a:gd name="adj" fmla="val 14103"/>
            </a:avLst>
          </a:prstGeom>
          <a:solidFill>
            <a:srgbClr val="F2F2F2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300" y="384552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000099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1900" y="3898835"/>
            <a:ext cx="10517124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F1: </a:t>
            </a:r>
            <a:r>
              <a:rPr lang="en-US" sz="1400" b="1" dirty="0">
                <a:solidFill>
                  <a:srgbClr val="000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=СЧЁТЕСЛИ(B2:B101;"К")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F2: </a:t>
            </a:r>
            <a:r>
              <a:rPr lang="en-US" sz="1400" b="1" dirty="0">
                <a:solidFill>
                  <a:srgbClr val="000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=СЧЁТЕСЛИМН(B2:B101;"К";C2:C101;"С")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5950" y="4359870"/>
            <a:ext cx="10960100" cy="495300"/>
          </a:xfrm>
          <a:prstGeom prst="roundRect">
            <a:avLst>
              <a:gd name="adj" fmla="val 14103"/>
            </a:avLst>
          </a:prstGeom>
          <a:solidFill>
            <a:srgbClr val="F2F2F2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300" y="442972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000099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31900" y="4483035"/>
            <a:ext cx="10517124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G1: </a:t>
            </a:r>
            <a:r>
              <a:rPr lang="en-US" sz="1400" b="1" dirty="0">
                <a:solidFill>
                  <a:srgbClr val="000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=F1/100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G2: </a:t>
            </a:r>
            <a:r>
              <a:rPr lang="en-US" sz="1400" b="1" dirty="0">
                <a:solidFill>
                  <a:srgbClr val="000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=F2/100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G3: </a:t>
            </a:r>
            <a:r>
              <a:rPr lang="en-US" sz="1400" b="1" dirty="0">
                <a:solidFill>
                  <a:srgbClr val="000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=F2/F1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5950" y="4944070"/>
            <a:ext cx="10960100" cy="495300"/>
          </a:xfrm>
          <a:prstGeom prst="roundRect">
            <a:avLst>
              <a:gd name="adj" fmla="val 14103"/>
            </a:avLst>
          </a:prstGeom>
          <a:solidFill>
            <a:srgbClr val="F2F2F2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300" y="501392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000099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31900" y="5067235"/>
            <a:ext cx="10517124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D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F9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новая серия. 1000 опытов: B2:C1001, Ctrl+D, делим на 1000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780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Математика, 8 класс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896600" y="17780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6451600"/>
            <a:ext cx="12192000" cy="406400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5" name="Text 3"/>
          <p:cNvSpPr/>
          <p:nvPr/>
        </p:nvSpPr>
        <p:spPr>
          <a:xfrm>
            <a:off x="609600" y="654308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Условная вероятность и правило умножения вероятностей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9600" y="1216620"/>
            <a:ext cx="10972800" cy="0"/>
          </a:xfrm>
          <a:prstGeom prst="line">
            <a:avLst/>
          </a:prstGeom>
          <a:noFill/>
          <a:ln w="25400">
            <a:solidFill>
              <a:srgbClr val="000099"/>
            </a:solidFill>
            <a:prstDash val="solid"/>
          </a:ln>
        </p:spPr>
      </p:sp>
      <p:sp>
        <p:nvSpPr>
          <p:cNvPr id="7" name="Text 5"/>
          <p:cNvSpPr/>
          <p:nvPr>
            <p:ph type="title"/>
          </p:nvPr>
        </p:nvSpPr>
        <p:spPr>
          <a:xfrm>
            <a:off x="609600" y="711200"/>
            <a:ext cx="1130198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Сверяем результаты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2300" y="1445220"/>
          <a:ext cx="10960100" cy="2671763"/>
        </p:xfrm>
        <a:graphic>
          <a:graphicData uri="http://schemas.openxmlformats.org/drawingml/2006/table">
            <a:tbl>
              <a:tblPr/>
              <a:tblGrid>
                <a:gridCol w="3653367"/>
                <a:gridCol w="3653367"/>
                <a:gridCol w="3653367"/>
              </a:tblGrid>
              <a:tr h="525727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Величина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Вероятность по формуле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Частота в опыте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27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P(A): первый красный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7/10 = 0,7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записать в таблицу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0154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P(A ∩ B): первый красный, второй синий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7/30 ≈ 0,233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записать в таблицу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0154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P(B|A): второй синий, если первый красный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3/9 = 1/3 ≈ 0,333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записать в таблицу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5950" y="4326533"/>
            <a:ext cx="10960100" cy="568920"/>
          </a:xfrm>
          <a:prstGeom prst="roundRect">
            <a:avLst>
              <a:gd name="adj" fmla="val 7813"/>
            </a:avLst>
          </a:prstGeom>
          <a:solidFill>
            <a:srgbClr val="FFFF99"/>
          </a:solidFill>
          <a:ln w="12700">
            <a:solidFill>
              <a:srgbClr val="CCCC33"/>
            </a:solidFill>
            <a:prstDash val="solid"/>
          </a:ln>
        </p:spPr>
        <p:txBody>
          <a:bodyPr wrap="square" lIns="171131" tIns="120331" rIns="0" bIns="94931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правила: P(A) · P(B|A) ≈ 0,7 · 0,333 ≈ 0,233 = </a:t>
            </a:r>
            <a:r>
              <a:rPr lang="en-US" sz="1700" b="1" dirty="0">
                <a:solidFill>
                  <a:srgbClr val="000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P(A ∩ B)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780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Математика, 8 класс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896600" y="17780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6451600"/>
            <a:ext cx="12192000" cy="406400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5" name="Text 3"/>
          <p:cNvSpPr/>
          <p:nvPr/>
        </p:nvSpPr>
        <p:spPr>
          <a:xfrm>
            <a:off x="609600" y="654308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Условная вероятность и правило умножения вероятностей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9600" y="1216620"/>
            <a:ext cx="10972800" cy="0"/>
          </a:xfrm>
          <a:prstGeom prst="line">
            <a:avLst/>
          </a:prstGeom>
          <a:noFill/>
          <a:ln w="25400">
            <a:solidFill>
              <a:srgbClr val="000099"/>
            </a:solidFill>
            <a:prstDash val="solid"/>
          </a:ln>
        </p:spPr>
      </p:sp>
      <p:sp>
        <p:nvSpPr>
          <p:cNvPr id="7" name="Text 5"/>
          <p:cNvSpPr/>
          <p:nvPr>
            <p:ph type="title"/>
          </p:nvPr>
        </p:nvSpPr>
        <p:spPr>
          <a:xfrm>
            <a:off x="609600" y="711200"/>
            <a:ext cx="1130198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с ИИ: проверяем, а не списываем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15950" y="1438870"/>
            <a:ext cx="5397500" cy="2654035"/>
          </a:xfrm>
          <a:prstGeom prst="roundRect">
            <a:avLst>
              <a:gd name="adj" fmla="val 2632"/>
            </a:avLst>
          </a:prstGeom>
          <a:solidFill>
            <a:srgbClr val="F2F2F2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5500" y="1648420"/>
            <a:ext cx="512775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D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Задание 4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5500" y="2080220"/>
            <a:ext cx="4978400" cy="1391708"/>
          </a:xfrm>
          <a:prstGeom prst="roundRect">
            <a:avLst>
              <a:gd name="adj" fmla="val 3650"/>
            </a:avLst>
          </a:prstGeom>
          <a:solidFill>
            <a:srgbClr val="DDEBF7"/>
          </a:solidFill>
          <a:ln/>
        </p:spPr>
        <p:txBody>
          <a:bodyPr wrap="square" lIns="112121" tIns="112121" rIns="0" bIns="86721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 коробке 3 синих и 7 красных карандашей. Достают два подряд без возвращения. Найди вероятность, что оба красные. Объясни через условную вероятность»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5500" y="3598931"/>
            <a:ext cx="512775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Сравните ответ ИИ со своим из Задания 3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78550" y="1438870"/>
            <a:ext cx="5397500" cy="2654035"/>
          </a:xfrm>
          <a:prstGeom prst="roundRect">
            <a:avLst>
              <a:gd name="adj" fmla="val 2632"/>
            </a:avLst>
          </a:prstGeom>
          <a:solidFill>
            <a:srgbClr val="F2F2F2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8100" y="1648420"/>
            <a:ext cx="512775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D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Задание 5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88100" y="2080220"/>
            <a:ext cx="4978400" cy="822854"/>
          </a:xfrm>
          <a:prstGeom prst="roundRect">
            <a:avLst>
              <a:gd name="adj" fmla="val 6174"/>
            </a:avLst>
          </a:prstGeom>
          <a:solidFill>
            <a:srgbClr val="DDEBF7"/>
          </a:solidFill>
          <a:ln/>
        </p:spPr>
        <p:txBody>
          <a:bodyPr wrap="square" lIns="112121" tIns="112121" rIns="0" bIns="86721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«Придумай задачу на условную вероятность про монету или игральную кость и дай ответ»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88100" y="3030076"/>
            <a:ext cx="512775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Решите задачу сами, потом сравните с ИИ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5950" y="4308807"/>
            <a:ext cx="10960100" cy="871141"/>
          </a:xfrm>
          <a:prstGeom prst="roundRect">
            <a:avLst>
              <a:gd name="adj" fmla="val 5103"/>
            </a:avLst>
          </a:prstGeom>
          <a:solidFill>
            <a:srgbClr val="FFFF99"/>
          </a:solidFill>
          <a:ln w="12700">
            <a:solidFill>
              <a:srgbClr val="CCCC33"/>
            </a:solidFill>
            <a:prstDash val="solid"/>
          </a:ln>
        </p:spPr>
        <p:txBody>
          <a:bodyPr wrap="square" lIns="171131" tIns="120331" rIns="0" bIns="94931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Ответы не совпали? Проверьте, учтено ли, что карандаш не вернули. Верим формуле </a:t>
            </a:r>
            <a:r>
              <a:rPr lang="en-US" sz="1700" b="1" dirty="0">
                <a:solidFill>
                  <a:srgbClr val="000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P(A ∩ B) = P(A) · P(B|A)</a:t>
            </a: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а не ИИ.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780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Математика, 8 класс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896600" y="17780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6451600"/>
            <a:ext cx="12192000" cy="406400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5" name="Text 3"/>
          <p:cNvSpPr/>
          <p:nvPr/>
        </p:nvSpPr>
        <p:spPr>
          <a:xfrm>
            <a:off x="609600" y="654308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Условная вероятность и правило умножения вероятностей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9600" y="1216620"/>
            <a:ext cx="10972800" cy="0"/>
          </a:xfrm>
          <a:prstGeom prst="line">
            <a:avLst/>
          </a:prstGeom>
          <a:noFill/>
          <a:ln w="25400">
            <a:solidFill>
              <a:srgbClr val="000099"/>
            </a:solidFill>
            <a:prstDash val="solid"/>
          </a:ln>
        </p:spPr>
      </p:sp>
      <p:sp>
        <p:nvSpPr>
          <p:cNvPr id="7" name="Text 5"/>
          <p:cNvSpPr/>
          <p:nvPr>
            <p:ph type="title"/>
          </p:nvPr>
        </p:nvSpPr>
        <p:spPr>
          <a:xfrm>
            <a:off x="609600" y="711200"/>
            <a:ext cx="1130198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Выводы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15950" y="1438870"/>
            <a:ext cx="10960100" cy="495300"/>
          </a:xfrm>
          <a:prstGeom prst="roundRect">
            <a:avLst>
              <a:gd name="adj" fmla="val 14103"/>
            </a:avLst>
          </a:prstGeom>
          <a:solidFill>
            <a:srgbClr val="F2F2F2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300" y="150872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000099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1900" y="1535379"/>
            <a:ext cx="10517124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доля синих среди вторых карандашей после красного близка к 1/3, а не к 3/10?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15950" y="2073870"/>
            <a:ext cx="10960100" cy="495300"/>
          </a:xfrm>
          <a:prstGeom prst="roundRect">
            <a:avLst>
              <a:gd name="adj" fmla="val 14103"/>
            </a:avLst>
          </a:prstGeom>
          <a:solidFill>
            <a:srgbClr val="F2F2F2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300" y="214372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000099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1900" y="2170379"/>
            <a:ext cx="10517124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Совпало ли P(A) · P(B|A) с частотой P(A ∩ B) в вашем опыте?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15950" y="2708870"/>
            <a:ext cx="10960100" cy="495300"/>
          </a:xfrm>
          <a:prstGeom prst="roundRect">
            <a:avLst>
              <a:gd name="adj" fmla="val 14103"/>
            </a:avLst>
          </a:prstGeom>
          <a:solidFill>
            <a:srgbClr val="F2F2F2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300" y="277872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000099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1900" y="2805379"/>
            <a:ext cx="10517124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изменилось бы, если бы первый карандаш возвращали в коробку?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15950" y="3420070"/>
            <a:ext cx="10960100" cy="871141"/>
          </a:xfrm>
          <a:prstGeom prst="roundRect">
            <a:avLst>
              <a:gd name="adj" fmla="val 5103"/>
            </a:avLst>
          </a:prstGeom>
          <a:solidFill>
            <a:srgbClr val="FFFF99"/>
          </a:solidFill>
          <a:ln w="12700">
            <a:solidFill>
              <a:srgbClr val="CCCC33"/>
            </a:solidFill>
            <a:prstDash val="solid"/>
          </a:ln>
        </p:spPr>
        <p:txBody>
          <a:bodyPr wrap="square" lIns="171131" tIns="120331" rIns="0" bIns="94931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сильных:</a:t>
            </a: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7% жителей города — студенты, 60% из них учатся в университете. Найдите вероятность, что случайный житель — студент университета.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Условная вероятность: практическая работа (8 класс)">
  <a:themeElements>
    <a:clrScheme name="Условная вероятность: практическая работа (8 класс)">
      <a:dk1>
        <a:srgbClr val="000000"/>
      </a:dk1>
      <a:lt1>
        <a:srgbClr val="FFFFFF"/>
      </a:lt1>
      <a:dk2>
        <a:srgbClr val="404040"/>
      </a:dk2>
      <a:lt2>
        <a:srgbClr val="E6E6E6"/>
      </a:lt2>
      <a:accent1>
        <a:srgbClr val="000099"/>
      </a:accent1>
      <a:accent2>
        <a:srgbClr val="FFFF99"/>
      </a:accent2>
      <a:accent3>
        <a:srgbClr val="D00000"/>
      </a:accent3>
      <a:accent4>
        <a:srgbClr val="99FF66"/>
      </a:accent4>
      <a:accent5>
        <a:srgbClr val="FFB3B3"/>
      </a:accent5>
      <a:accent6>
        <a:srgbClr val="595959"/>
      </a:accent6>
      <a:hlink>
        <a:srgbClr val="0563C1"/>
      </a:hlink>
      <a:folHlink>
        <a:srgbClr val="954F72"/>
      </a:folHlink>
    </a:clrScheme>
    <a:fontScheme name="Условная вероятность: практическая работа (8 класс)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Условная вероятность: практическая работа (8 класс)</dc:title>
  <dc:subject/>
  <dc:creator/>
  <cp:lastModifiedBy/>
  <cp:revision>1</cp:revision>
  <dcterms:created xsi:type="dcterms:W3CDTF">2026-10-10T03:03:01Z</dcterms:created>
  <dcterms:modified xsi:type="dcterms:W3CDTF">2026-10-10T03:03:01Z</dcterms:modified>
</cp:coreProperties>
</file>